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Lekton"/>
      <p:bold r:id="rId15"/>
    </p:embeddedFont>
    <p:embeddedFont>
      <p:font typeface="Inter Light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Helvetica Ne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iDbpjIxK00mWpJUiB/uGRBW/2r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HelveticaNeue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8" Type="http://customschemas.google.com/relationships/presentationmetadata" Target="metadata"/><Relationship Id="rId27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Lekton-bold.fntdata"/><Relationship Id="rId14" Type="http://schemas.openxmlformats.org/officeDocument/2006/relationships/slide" Target="slides/slide9.xml"/><Relationship Id="rId17" Type="http://schemas.openxmlformats.org/officeDocument/2006/relationships/font" Target="fonts/InterLight-bold.fntdata"/><Relationship Id="rId16" Type="http://schemas.openxmlformats.org/officeDocument/2006/relationships/font" Target="fonts/InterLight-regular.fntdata"/><Relationship Id="rId19" Type="http://schemas.openxmlformats.org/officeDocument/2006/relationships/font" Target="fonts/InterLight-boldItalic.fntdata"/><Relationship Id="rId18" Type="http://schemas.openxmlformats.org/officeDocument/2006/relationships/font" Target="fonts/Inter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b11517ad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b11517add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brighstudio.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EE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585923" y="1028700"/>
            <a:ext cx="2002624" cy="595424"/>
            <a:chOff x="0" y="0"/>
            <a:chExt cx="527440" cy="15682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527440" cy="156820"/>
            </a:xfrm>
            <a:custGeom>
              <a:rect b="b" l="l" r="r" t="t"/>
              <a:pathLst>
                <a:path extrusionOk="0" h="156820" w="527440">
                  <a:moveTo>
                    <a:pt x="78410" y="0"/>
                  </a:moveTo>
                  <a:lnTo>
                    <a:pt x="449030" y="0"/>
                  </a:lnTo>
                  <a:cubicBezTo>
                    <a:pt x="469826" y="0"/>
                    <a:pt x="489770" y="8261"/>
                    <a:pt x="504474" y="22966"/>
                  </a:cubicBezTo>
                  <a:cubicBezTo>
                    <a:pt x="519179" y="37670"/>
                    <a:pt x="527440" y="57614"/>
                    <a:pt x="527440" y="78410"/>
                  </a:cubicBezTo>
                  <a:lnTo>
                    <a:pt x="527440" y="78410"/>
                  </a:lnTo>
                  <a:cubicBezTo>
                    <a:pt x="527440" y="121714"/>
                    <a:pt x="492335" y="156820"/>
                    <a:pt x="449030" y="156820"/>
                  </a:cubicBezTo>
                  <a:lnTo>
                    <a:pt x="78410" y="156820"/>
                  </a:lnTo>
                  <a:cubicBezTo>
                    <a:pt x="35105" y="156820"/>
                    <a:pt x="0" y="121714"/>
                    <a:pt x="0" y="78410"/>
                  </a:cubicBezTo>
                  <a:lnTo>
                    <a:pt x="0" y="78410"/>
                  </a:lnTo>
                  <a:cubicBezTo>
                    <a:pt x="0" y="35105"/>
                    <a:pt x="35105" y="0"/>
                    <a:pt x="78410" y="0"/>
                  </a:cubicBezTo>
                  <a:close/>
                </a:path>
              </a:pathLst>
            </a:custGeom>
            <a:noFill/>
            <a:ln cap="rnd" cmpd="sng" w="14275">
              <a:solidFill>
                <a:srgbClr val="1818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19050"/>
              <a:ext cx="527440" cy="137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10288400" y="0"/>
            <a:ext cx="7999599" cy="10278726"/>
          </a:xfrm>
          <a:custGeom>
            <a:rect b="b" l="l" r="r" t="t"/>
            <a:pathLst>
              <a:path extrusionOk="0" h="11713648" w="7999599">
                <a:moveTo>
                  <a:pt x="0" y="0"/>
                </a:moveTo>
                <a:lnTo>
                  <a:pt x="7999599" y="0"/>
                </a:lnTo>
                <a:lnTo>
                  <a:pt x="7999599" y="11713648"/>
                </a:lnTo>
                <a:lnTo>
                  <a:pt x="0" y="11713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778" l="0" r="0" t="-10778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3027044" y="1109240"/>
            <a:ext cx="449766" cy="453393"/>
          </a:xfrm>
          <a:custGeom>
            <a:rect b="b" l="l" r="r" t="t"/>
            <a:pathLst>
              <a:path extrusionOk="0" h="453393" w="449766">
                <a:moveTo>
                  <a:pt x="0" y="0"/>
                </a:moveTo>
                <a:lnTo>
                  <a:pt x="449766" y="0"/>
                </a:lnTo>
                <a:lnTo>
                  <a:pt x="449766" y="453394"/>
                </a:lnTo>
                <a:lnTo>
                  <a:pt x="0" y="4533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585924" y="6642375"/>
            <a:ext cx="6878100" cy="25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200" u="none" cap="none" strike="noStrike">
                <a:solidFill>
                  <a:srgbClr val="18181A"/>
                </a:solidFill>
                <a:latin typeface="Inter Light"/>
                <a:ea typeface="Inter Light"/>
                <a:cs typeface="Inter Light"/>
                <a:sym typeface="Inter Light"/>
              </a:rPr>
              <a:t>Brig</a:t>
            </a:r>
            <a:r>
              <a:rPr lang="en-US" sz="8200">
                <a:solidFill>
                  <a:srgbClr val="18181A"/>
                </a:solidFill>
                <a:latin typeface="Inter Light"/>
                <a:ea typeface="Inter Light"/>
                <a:cs typeface="Inter Light"/>
                <a:sym typeface="Inter Light"/>
              </a:rPr>
              <a:t>ht propuesta</a:t>
            </a:r>
            <a:endParaRPr sz="82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99878" y="1172487"/>
            <a:ext cx="162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18181A"/>
                </a:solidFill>
                <a:latin typeface="Arial"/>
                <a:ea typeface="Arial"/>
                <a:cs typeface="Arial"/>
                <a:sym typeface="Arial"/>
              </a:rPr>
              <a:t>MARCH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"/>
          <p:cNvGrpSpPr/>
          <p:nvPr/>
        </p:nvGrpSpPr>
        <p:grpSpPr>
          <a:xfrm>
            <a:off x="1971411" y="500866"/>
            <a:ext cx="1940446" cy="595424"/>
            <a:chOff x="0" y="0"/>
            <a:chExt cx="511064" cy="156820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511064" cy="156820"/>
            </a:xfrm>
            <a:custGeom>
              <a:rect b="b" l="l" r="r" t="t"/>
              <a:pathLst>
                <a:path extrusionOk="0" h="156820" w="511064">
                  <a:moveTo>
                    <a:pt x="78410" y="0"/>
                  </a:moveTo>
                  <a:lnTo>
                    <a:pt x="432654" y="0"/>
                  </a:lnTo>
                  <a:cubicBezTo>
                    <a:pt x="453450" y="0"/>
                    <a:pt x="473394" y="8261"/>
                    <a:pt x="488098" y="22966"/>
                  </a:cubicBezTo>
                  <a:cubicBezTo>
                    <a:pt x="502803" y="37670"/>
                    <a:pt x="511064" y="57614"/>
                    <a:pt x="511064" y="78410"/>
                  </a:cubicBezTo>
                  <a:lnTo>
                    <a:pt x="511064" y="78410"/>
                  </a:lnTo>
                  <a:cubicBezTo>
                    <a:pt x="511064" y="121714"/>
                    <a:pt x="475959" y="156820"/>
                    <a:pt x="432654" y="156820"/>
                  </a:cubicBezTo>
                  <a:lnTo>
                    <a:pt x="78410" y="156820"/>
                  </a:lnTo>
                  <a:cubicBezTo>
                    <a:pt x="35105" y="156820"/>
                    <a:pt x="0" y="121714"/>
                    <a:pt x="0" y="78410"/>
                  </a:cubicBezTo>
                  <a:lnTo>
                    <a:pt x="0" y="78410"/>
                  </a:lnTo>
                  <a:cubicBezTo>
                    <a:pt x="0" y="35105"/>
                    <a:pt x="35105" y="0"/>
                    <a:pt x="78410" y="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0" y="19050"/>
              <a:ext cx="511064" cy="137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693268" y="356223"/>
            <a:ext cx="884709" cy="884709"/>
            <a:chOff x="0" y="0"/>
            <a:chExt cx="1179612" cy="1179612"/>
          </a:xfrm>
        </p:grpSpPr>
        <p:grpSp>
          <p:nvGrpSpPr>
            <p:cNvPr id="99" name="Google Shape;99;p2"/>
            <p:cNvGrpSpPr/>
            <p:nvPr/>
          </p:nvGrpSpPr>
          <p:grpSpPr>
            <a:xfrm>
              <a:off x="0" y="0"/>
              <a:ext cx="1179612" cy="1179612"/>
              <a:chOff x="0" y="0"/>
              <a:chExt cx="812800" cy="812800"/>
            </a:xfrm>
          </p:grpSpPr>
          <p:sp>
            <p:nvSpPr>
              <p:cNvPr id="100" name="Google Shape;100;p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noFill/>
              <a:ln cap="sq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2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" name="Google Shape;102;p2"/>
            <p:cNvSpPr/>
            <p:nvPr/>
          </p:nvSpPr>
          <p:spPr>
            <a:xfrm rot="-2392374">
              <a:off x="424107" y="419565"/>
              <a:ext cx="331399" cy="400592"/>
            </a:xfrm>
            <a:custGeom>
              <a:rect b="b" l="l" r="r" t="t"/>
              <a:pathLst>
                <a:path extrusionOk="0" h="400592" w="331399">
                  <a:moveTo>
                    <a:pt x="0" y="0"/>
                  </a:moveTo>
                  <a:lnTo>
                    <a:pt x="331399" y="0"/>
                  </a:lnTo>
                  <a:lnTo>
                    <a:pt x="331399" y="400592"/>
                  </a:lnTo>
                  <a:lnTo>
                    <a:pt x="0" y="400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03" name="Google Shape;103;p2"/>
          <p:cNvSpPr txBox="1"/>
          <p:nvPr/>
        </p:nvSpPr>
        <p:spPr>
          <a:xfrm>
            <a:off x="943395" y="2031269"/>
            <a:ext cx="11998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999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Nada como un buen aliado.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2299961" y="686373"/>
            <a:ext cx="1283345" cy="252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9439250" y="6259750"/>
            <a:ext cx="7406700" cy="22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Valoramos lo que ya funciona en tu marca pero creemos que 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juntos podemos hacerlo aún mejor. Colaboramos codo a codo 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 tu equipo interno para diseñar y ejecutar estrategias que 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potencien tus fortalezas y marquen la diferencia.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EEE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2240162" y="1878958"/>
            <a:ext cx="3262192" cy="4167361"/>
          </a:xfrm>
          <a:custGeom>
            <a:rect b="b" l="l" r="r" t="t"/>
            <a:pathLst>
              <a:path extrusionOk="0" h="4167361" w="3262192">
                <a:moveTo>
                  <a:pt x="0" y="0"/>
                </a:moveTo>
                <a:lnTo>
                  <a:pt x="3262192" y="0"/>
                </a:lnTo>
                <a:lnTo>
                  <a:pt x="3262192" y="4167361"/>
                </a:lnTo>
                <a:lnTo>
                  <a:pt x="0" y="4167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5" r="-15" t="0"/>
            </a:stretch>
          </a:blipFill>
          <a:ln>
            <a:noFill/>
          </a:ln>
        </p:spPr>
      </p:sp>
      <p:sp>
        <p:nvSpPr>
          <p:cNvPr id="111" name="Google Shape;111;p3"/>
          <p:cNvSpPr/>
          <p:nvPr/>
        </p:nvSpPr>
        <p:spPr>
          <a:xfrm>
            <a:off x="7512904" y="1878958"/>
            <a:ext cx="3262192" cy="4167361"/>
          </a:xfrm>
          <a:custGeom>
            <a:rect b="b" l="l" r="r" t="t"/>
            <a:pathLst>
              <a:path extrusionOk="0" h="4167361" w="3262192">
                <a:moveTo>
                  <a:pt x="0" y="0"/>
                </a:moveTo>
                <a:lnTo>
                  <a:pt x="3262192" y="0"/>
                </a:lnTo>
                <a:lnTo>
                  <a:pt x="3262192" y="4167361"/>
                </a:lnTo>
                <a:lnTo>
                  <a:pt x="0" y="4167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5" r="-15" t="0"/>
            </a:stretch>
          </a:blipFill>
          <a:ln>
            <a:noFill/>
          </a:ln>
        </p:spPr>
      </p:sp>
      <p:sp>
        <p:nvSpPr>
          <p:cNvPr id="112" name="Google Shape;112;p3"/>
          <p:cNvSpPr/>
          <p:nvPr/>
        </p:nvSpPr>
        <p:spPr>
          <a:xfrm>
            <a:off x="5706205" y="3447320"/>
            <a:ext cx="1478741" cy="1478741"/>
          </a:xfrm>
          <a:custGeom>
            <a:rect b="b" l="l" r="r" t="t"/>
            <a:pathLst>
              <a:path extrusionOk="0" h="2095500" w="2095500">
                <a:moveTo>
                  <a:pt x="1871599" y="223901"/>
                </a:moveTo>
                <a:lnTo>
                  <a:pt x="1462786" y="669036"/>
                </a:lnTo>
                <a:lnTo>
                  <a:pt x="2020062" y="435102"/>
                </a:lnTo>
                <a:lnTo>
                  <a:pt x="1487551" y="721741"/>
                </a:lnTo>
                <a:lnTo>
                  <a:pt x="2090293" y="669671"/>
                </a:lnTo>
                <a:lnTo>
                  <a:pt x="1498346" y="796798"/>
                </a:lnTo>
                <a:lnTo>
                  <a:pt x="2095500" y="896620"/>
                </a:lnTo>
                <a:lnTo>
                  <a:pt x="1489710" y="889000"/>
                </a:lnTo>
                <a:lnTo>
                  <a:pt x="2055241" y="1106170"/>
                </a:lnTo>
                <a:lnTo>
                  <a:pt x="1460754" y="988568"/>
                </a:lnTo>
                <a:lnTo>
                  <a:pt x="1982216" y="1297432"/>
                </a:lnTo>
                <a:lnTo>
                  <a:pt x="1413256" y="1088390"/>
                </a:lnTo>
                <a:lnTo>
                  <a:pt x="1883664" y="1470660"/>
                </a:lnTo>
                <a:lnTo>
                  <a:pt x="1349629" y="1183894"/>
                </a:lnTo>
                <a:lnTo>
                  <a:pt x="1764157" y="1626235"/>
                </a:lnTo>
                <a:lnTo>
                  <a:pt x="1272159" y="1272032"/>
                </a:lnTo>
                <a:lnTo>
                  <a:pt x="1626362" y="1763903"/>
                </a:lnTo>
                <a:lnTo>
                  <a:pt x="1184021" y="1349375"/>
                </a:lnTo>
                <a:lnTo>
                  <a:pt x="1470914" y="1883410"/>
                </a:lnTo>
                <a:lnTo>
                  <a:pt x="1088390" y="1413256"/>
                </a:lnTo>
                <a:lnTo>
                  <a:pt x="1297432" y="1982089"/>
                </a:lnTo>
                <a:lnTo>
                  <a:pt x="988568" y="1460754"/>
                </a:lnTo>
                <a:lnTo>
                  <a:pt x="1106297" y="2055241"/>
                </a:lnTo>
                <a:lnTo>
                  <a:pt x="888873" y="1489710"/>
                </a:lnTo>
                <a:lnTo>
                  <a:pt x="896620" y="2095500"/>
                </a:lnTo>
                <a:lnTo>
                  <a:pt x="796798" y="1498219"/>
                </a:lnTo>
                <a:lnTo>
                  <a:pt x="669544" y="2090166"/>
                </a:lnTo>
                <a:lnTo>
                  <a:pt x="721614" y="1487424"/>
                </a:lnTo>
                <a:lnTo>
                  <a:pt x="434975" y="2019935"/>
                </a:lnTo>
                <a:lnTo>
                  <a:pt x="669036" y="1462786"/>
                </a:lnTo>
                <a:lnTo>
                  <a:pt x="223901" y="1871472"/>
                </a:lnTo>
                <a:lnTo>
                  <a:pt x="632587" y="1426464"/>
                </a:lnTo>
                <a:lnTo>
                  <a:pt x="75438" y="1660398"/>
                </a:lnTo>
                <a:lnTo>
                  <a:pt x="607949" y="1373759"/>
                </a:lnTo>
                <a:lnTo>
                  <a:pt x="5207" y="1425829"/>
                </a:lnTo>
                <a:lnTo>
                  <a:pt x="597154" y="1298702"/>
                </a:lnTo>
                <a:lnTo>
                  <a:pt x="0" y="1198880"/>
                </a:lnTo>
                <a:lnTo>
                  <a:pt x="605663" y="1206500"/>
                </a:lnTo>
                <a:lnTo>
                  <a:pt x="40259" y="989203"/>
                </a:lnTo>
                <a:lnTo>
                  <a:pt x="634746" y="1106932"/>
                </a:lnTo>
                <a:lnTo>
                  <a:pt x="113284" y="798068"/>
                </a:lnTo>
                <a:lnTo>
                  <a:pt x="682371" y="1007110"/>
                </a:lnTo>
                <a:lnTo>
                  <a:pt x="211963" y="624713"/>
                </a:lnTo>
                <a:lnTo>
                  <a:pt x="745998" y="911479"/>
                </a:lnTo>
                <a:lnTo>
                  <a:pt x="331470" y="469265"/>
                </a:lnTo>
                <a:lnTo>
                  <a:pt x="823341" y="823468"/>
                </a:lnTo>
                <a:lnTo>
                  <a:pt x="469138" y="331470"/>
                </a:lnTo>
                <a:lnTo>
                  <a:pt x="911479" y="745998"/>
                </a:lnTo>
                <a:lnTo>
                  <a:pt x="624713" y="211963"/>
                </a:lnTo>
                <a:lnTo>
                  <a:pt x="1006983" y="682371"/>
                </a:lnTo>
                <a:lnTo>
                  <a:pt x="798068" y="113284"/>
                </a:lnTo>
                <a:lnTo>
                  <a:pt x="1106932" y="634746"/>
                </a:lnTo>
                <a:lnTo>
                  <a:pt x="989203" y="40259"/>
                </a:lnTo>
                <a:lnTo>
                  <a:pt x="1206500" y="605790"/>
                </a:lnTo>
                <a:lnTo>
                  <a:pt x="1198880" y="0"/>
                </a:lnTo>
                <a:lnTo>
                  <a:pt x="1298702" y="597154"/>
                </a:lnTo>
                <a:lnTo>
                  <a:pt x="1425829" y="5334"/>
                </a:lnTo>
                <a:lnTo>
                  <a:pt x="1373759" y="608076"/>
                </a:lnTo>
                <a:lnTo>
                  <a:pt x="1660398" y="75438"/>
                </a:lnTo>
                <a:lnTo>
                  <a:pt x="1426464" y="632714"/>
                </a:lnTo>
                <a:lnTo>
                  <a:pt x="1871599" y="224028"/>
                </a:lnTo>
                <a:close/>
              </a:path>
            </a:pathLst>
          </a:custGeom>
          <a:solidFill>
            <a:srgbClr val="F6470F"/>
          </a:solidFill>
          <a:ln>
            <a:noFill/>
          </a:ln>
        </p:spPr>
      </p:sp>
      <p:sp>
        <p:nvSpPr>
          <p:cNvPr id="113" name="Google Shape;113;p3"/>
          <p:cNvSpPr txBox="1"/>
          <p:nvPr/>
        </p:nvSpPr>
        <p:spPr>
          <a:xfrm>
            <a:off x="2189162" y="6701037"/>
            <a:ext cx="3364200" cy="16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11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Líder en estrategia digital y creación de contenido. Su pasión por el mundo digital y las redes sociales se refleja en su capacidad para desarrollar estrategias efectivas que conectan a las marcas con sus audiencias.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7512905" y="6701037"/>
            <a:ext cx="3262200" cy="16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11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Como experta en diseño y branding, 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34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11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Gabi combina una visión artística con 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34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11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una profunda comprensión de cómo las 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34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11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historias poderosas a través de la creatividad y la  usabilidad.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2240124" y="6265063"/>
            <a:ext cx="3364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11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Manana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7593367" y="6265063"/>
            <a:ext cx="3364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11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Gabi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5216672" y="9666279"/>
            <a:ext cx="1355620" cy="191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www.brightstudio.es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14643366" y="9666279"/>
            <a:ext cx="1401873" cy="191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hola@brightstudio.es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13048535" y="6265063"/>
            <a:ext cx="3364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0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11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Fran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3048522" y="6701015"/>
            <a:ext cx="3262200" cy="10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11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Como experto detrás de la cámara, hace magia con su mirada. Combina creatividad, atención meticulosa a los detalles y una actitud siempre positiva.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2875472" y="1878958"/>
            <a:ext cx="3169767" cy="4167361"/>
          </a:xfrm>
          <a:custGeom>
            <a:rect b="b" l="l" r="r" t="t"/>
            <a:pathLst>
              <a:path extrusionOk="0" h="4167361" w="3169767">
                <a:moveTo>
                  <a:pt x="0" y="0"/>
                </a:moveTo>
                <a:lnTo>
                  <a:pt x="3169767" y="0"/>
                </a:lnTo>
                <a:lnTo>
                  <a:pt x="3169767" y="4167361"/>
                </a:lnTo>
                <a:lnTo>
                  <a:pt x="0" y="41673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8453" r="-13018" t="0"/>
            </a:stretch>
          </a:blipFill>
          <a:ln>
            <a:noFill/>
          </a:ln>
        </p:spPr>
      </p:sp>
      <p:sp>
        <p:nvSpPr>
          <p:cNvPr id="122" name="Google Shape;122;p3"/>
          <p:cNvSpPr/>
          <p:nvPr/>
        </p:nvSpPr>
        <p:spPr>
          <a:xfrm>
            <a:off x="11098946" y="3313274"/>
            <a:ext cx="1300356" cy="1298730"/>
          </a:xfrm>
          <a:custGeom>
            <a:rect b="b" l="l" r="r" t="t"/>
            <a:pathLst>
              <a:path extrusionOk="0" h="1298730" w="1300356">
                <a:moveTo>
                  <a:pt x="0" y="0"/>
                </a:moveTo>
                <a:lnTo>
                  <a:pt x="1300356" y="0"/>
                </a:lnTo>
                <a:lnTo>
                  <a:pt x="1300356" y="1298730"/>
                </a:lnTo>
                <a:lnTo>
                  <a:pt x="0" y="1298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3" name="Google Shape;123;p3"/>
          <p:cNvGrpSpPr/>
          <p:nvPr/>
        </p:nvGrpSpPr>
        <p:grpSpPr>
          <a:xfrm>
            <a:off x="1971399" y="500875"/>
            <a:ext cx="2173453" cy="595430"/>
            <a:chOff x="0" y="0"/>
            <a:chExt cx="511064" cy="156820"/>
          </a:xfrm>
        </p:grpSpPr>
        <p:sp>
          <p:nvSpPr>
            <p:cNvPr id="124" name="Google Shape;124;p3"/>
            <p:cNvSpPr/>
            <p:nvPr/>
          </p:nvSpPr>
          <p:spPr>
            <a:xfrm>
              <a:off x="0" y="0"/>
              <a:ext cx="511064" cy="156820"/>
            </a:xfrm>
            <a:custGeom>
              <a:rect b="b" l="l" r="r" t="t"/>
              <a:pathLst>
                <a:path extrusionOk="0" h="156820" w="511064">
                  <a:moveTo>
                    <a:pt x="78410" y="0"/>
                  </a:moveTo>
                  <a:lnTo>
                    <a:pt x="432654" y="0"/>
                  </a:lnTo>
                  <a:cubicBezTo>
                    <a:pt x="453450" y="0"/>
                    <a:pt x="473394" y="8261"/>
                    <a:pt x="488098" y="22966"/>
                  </a:cubicBezTo>
                  <a:cubicBezTo>
                    <a:pt x="502803" y="37670"/>
                    <a:pt x="511064" y="57614"/>
                    <a:pt x="511064" y="78410"/>
                  </a:cubicBezTo>
                  <a:lnTo>
                    <a:pt x="511064" y="78410"/>
                  </a:lnTo>
                  <a:cubicBezTo>
                    <a:pt x="511064" y="121714"/>
                    <a:pt x="475959" y="156820"/>
                    <a:pt x="432654" y="156820"/>
                  </a:cubicBezTo>
                  <a:lnTo>
                    <a:pt x="78410" y="156820"/>
                  </a:lnTo>
                  <a:cubicBezTo>
                    <a:pt x="35105" y="156820"/>
                    <a:pt x="0" y="121714"/>
                    <a:pt x="0" y="78410"/>
                  </a:cubicBezTo>
                  <a:lnTo>
                    <a:pt x="0" y="78410"/>
                  </a:lnTo>
                  <a:cubicBezTo>
                    <a:pt x="0" y="35105"/>
                    <a:pt x="35105" y="0"/>
                    <a:pt x="78410" y="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0" y="19050"/>
              <a:ext cx="511064" cy="137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3"/>
          <p:cNvGrpSpPr/>
          <p:nvPr/>
        </p:nvGrpSpPr>
        <p:grpSpPr>
          <a:xfrm>
            <a:off x="693268" y="356223"/>
            <a:ext cx="884709" cy="884709"/>
            <a:chOff x="0" y="0"/>
            <a:chExt cx="1179612" cy="1179612"/>
          </a:xfrm>
        </p:grpSpPr>
        <p:grpSp>
          <p:nvGrpSpPr>
            <p:cNvPr id="127" name="Google Shape;127;p3"/>
            <p:cNvGrpSpPr/>
            <p:nvPr/>
          </p:nvGrpSpPr>
          <p:grpSpPr>
            <a:xfrm>
              <a:off x="0" y="0"/>
              <a:ext cx="1179612" cy="1179612"/>
              <a:chOff x="0" y="0"/>
              <a:chExt cx="812800" cy="812800"/>
            </a:xfrm>
          </p:grpSpPr>
          <p:sp>
            <p:nvSpPr>
              <p:cNvPr id="128" name="Google Shape;128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noFill/>
              <a:ln cap="sq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3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" name="Google Shape;130;p3"/>
            <p:cNvSpPr/>
            <p:nvPr/>
          </p:nvSpPr>
          <p:spPr>
            <a:xfrm rot="-2392374">
              <a:off x="424107" y="419565"/>
              <a:ext cx="331399" cy="400592"/>
            </a:xfrm>
            <a:custGeom>
              <a:rect b="b" l="l" r="r" t="t"/>
              <a:pathLst>
                <a:path extrusionOk="0" h="400592" w="331399">
                  <a:moveTo>
                    <a:pt x="0" y="0"/>
                  </a:moveTo>
                  <a:lnTo>
                    <a:pt x="331399" y="0"/>
                  </a:lnTo>
                  <a:lnTo>
                    <a:pt x="331399" y="400592"/>
                  </a:lnTo>
                  <a:lnTo>
                    <a:pt x="0" y="400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1" name="Google Shape;131;p3"/>
          <p:cNvSpPr txBox="1"/>
          <p:nvPr/>
        </p:nvSpPr>
        <p:spPr>
          <a:xfrm>
            <a:off x="2567774" y="686376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9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EUIPO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/>
          <p:nvPr/>
        </p:nvSpPr>
        <p:spPr>
          <a:xfrm>
            <a:off x="10186107" y="1872633"/>
            <a:ext cx="8101893" cy="8952"/>
          </a:xfrm>
          <a:custGeom>
            <a:rect b="b" l="l" r="r" t="t"/>
            <a:pathLst>
              <a:path extrusionOk="0" h="12700" w="11493500">
                <a:moveTo>
                  <a:pt x="0" y="12700"/>
                </a:moveTo>
                <a:lnTo>
                  <a:pt x="11493500" y="12700"/>
                </a:lnTo>
                <a:lnTo>
                  <a:pt x="114935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18181A"/>
          </a:solid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>
            <a:off x="10186107" y="5104437"/>
            <a:ext cx="8101893" cy="8952"/>
          </a:xfrm>
          <a:custGeom>
            <a:rect b="b" l="l" r="r" t="t"/>
            <a:pathLst>
              <a:path extrusionOk="0" h="12700" w="11493500">
                <a:moveTo>
                  <a:pt x="0" y="12700"/>
                </a:moveTo>
                <a:lnTo>
                  <a:pt x="11493500" y="12700"/>
                </a:lnTo>
                <a:lnTo>
                  <a:pt x="114935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18181A"/>
          </a:solidFill>
          <a:ln>
            <a:noFill/>
          </a:ln>
        </p:spPr>
      </p:sp>
      <p:sp>
        <p:nvSpPr>
          <p:cNvPr id="138" name="Google Shape;138;p4"/>
          <p:cNvSpPr/>
          <p:nvPr/>
        </p:nvSpPr>
        <p:spPr>
          <a:xfrm>
            <a:off x="10186107" y="7226148"/>
            <a:ext cx="8101893" cy="8952"/>
          </a:xfrm>
          <a:custGeom>
            <a:rect b="b" l="l" r="r" t="t"/>
            <a:pathLst>
              <a:path extrusionOk="0" h="12700" w="11493500">
                <a:moveTo>
                  <a:pt x="0" y="12700"/>
                </a:moveTo>
                <a:lnTo>
                  <a:pt x="11493500" y="12700"/>
                </a:lnTo>
                <a:lnTo>
                  <a:pt x="114935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18181A"/>
          </a:solidFill>
          <a:ln>
            <a:noFill/>
          </a:ln>
        </p:spPr>
      </p:sp>
      <p:sp>
        <p:nvSpPr>
          <p:cNvPr id="139" name="Google Shape;139;p4"/>
          <p:cNvSpPr txBox="1"/>
          <p:nvPr/>
        </p:nvSpPr>
        <p:spPr>
          <a:xfrm>
            <a:off x="1621631" y="1900635"/>
            <a:ext cx="6656060" cy="950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hacemos?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10186107" y="6639837"/>
            <a:ext cx="1654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/ Bright Digital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10579582" y="7212959"/>
            <a:ext cx="342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01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10186107" y="2396971"/>
            <a:ext cx="2113800" cy="18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Creación de logo e isotipo Identidad visual Manual de marca Empaques e impresiones Anuncios y campañas Visual merchandising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10186107" y="5626179"/>
            <a:ext cx="24318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Estrategia de marca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5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Creación de contenido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10186107" y="7544234"/>
            <a:ext cx="15975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9" u="none" cap="none" strike="noStrike">
                <a:solidFill>
                  <a:srgbClr val="F6470F"/>
                </a:solidFill>
                <a:latin typeface="Inter Light"/>
                <a:ea typeface="Inter Light"/>
                <a:cs typeface="Inter Light"/>
                <a:sym typeface="Inter Light"/>
              </a:rPr>
              <a:t>Web&amp; App design  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10186107" y="7930541"/>
            <a:ext cx="2974800" cy="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Diseño UI / Diseño web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5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Diseño y desarrollo de E-commerce 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12997151" y="5626179"/>
            <a:ext cx="20865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KPIs 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5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Reportes trimestrales 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2997151" y="2375178"/>
            <a:ext cx="2618100" cy="12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Papelería Empaques Editorial Ilustración Estrategia de contenidos Copywriting Manual de identidad verbal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12997150" y="1993025"/>
            <a:ext cx="34920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9" u="none" cap="none" strike="noStrike">
                <a:solidFill>
                  <a:srgbClr val="F6470F"/>
                </a:solidFill>
                <a:latin typeface="Inter Light"/>
                <a:ea typeface="Inter Light"/>
                <a:cs typeface="Inter Light"/>
                <a:sym typeface="Inter Light"/>
              </a:rPr>
              <a:t>Diseño gráfico y de contenidos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12997151" y="5200574"/>
            <a:ext cx="2618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9" u="none" cap="none" strike="noStrike">
                <a:solidFill>
                  <a:srgbClr val="F6470F"/>
                </a:solidFill>
                <a:latin typeface="Inter Light"/>
                <a:ea typeface="Inter Light"/>
                <a:cs typeface="Inter Light"/>
                <a:sym typeface="Inter Light"/>
              </a:rPr>
              <a:t>Medición e informes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10186107" y="1993027"/>
            <a:ext cx="2618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9" u="none" cap="none" strike="noStrike">
                <a:solidFill>
                  <a:srgbClr val="F6470F"/>
                </a:solidFill>
                <a:latin typeface="Inter Light"/>
                <a:ea typeface="Inter Light"/>
                <a:cs typeface="Inter Light"/>
                <a:sym typeface="Inter Light"/>
              </a:rPr>
              <a:t>Branding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10186107" y="5200574"/>
            <a:ext cx="26181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9" u="none" cap="none" strike="noStrike">
                <a:solidFill>
                  <a:srgbClr val="F6470F"/>
                </a:solidFill>
                <a:latin typeface="Inter Light"/>
                <a:ea typeface="Inter Light"/>
                <a:cs typeface="Inter Light"/>
                <a:sym typeface="Inter Light"/>
              </a:rPr>
              <a:t>Contenido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10186107" y="1309188"/>
            <a:ext cx="211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/ Bright Branding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10186107" y="4540993"/>
            <a:ext cx="287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/ Bright Social Media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5216672" y="9666279"/>
            <a:ext cx="1355620" cy="191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www.brightstudio.es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14643366" y="9666279"/>
            <a:ext cx="1401873" cy="191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hola@brightstudio.es</a:t>
            </a:r>
            <a:endParaRPr/>
          </a:p>
        </p:txBody>
      </p:sp>
      <p:grpSp>
        <p:nvGrpSpPr>
          <p:cNvPr id="156" name="Google Shape;156;p4"/>
          <p:cNvGrpSpPr/>
          <p:nvPr/>
        </p:nvGrpSpPr>
        <p:grpSpPr>
          <a:xfrm>
            <a:off x="1971411" y="500866"/>
            <a:ext cx="1940446" cy="595424"/>
            <a:chOff x="0" y="0"/>
            <a:chExt cx="511064" cy="156820"/>
          </a:xfrm>
        </p:grpSpPr>
        <p:sp>
          <p:nvSpPr>
            <p:cNvPr id="157" name="Google Shape;157;p4"/>
            <p:cNvSpPr/>
            <p:nvPr/>
          </p:nvSpPr>
          <p:spPr>
            <a:xfrm>
              <a:off x="0" y="0"/>
              <a:ext cx="511064" cy="156820"/>
            </a:xfrm>
            <a:custGeom>
              <a:rect b="b" l="l" r="r" t="t"/>
              <a:pathLst>
                <a:path extrusionOk="0" h="156820" w="511064">
                  <a:moveTo>
                    <a:pt x="78410" y="0"/>
                  </a:moveTo>
                  <a:lnTo>
                    <a:pt x="432654" y="0"/>
                  </a:lnTo>
                  <a:cubicBezTo>
                    <a:pt x="453450" y="0"/>
                    <a:pt x="473394" y="8261"/>
                    <a:pt x="488098" y="22966"/>
                  </a:cubicBezTo>
                  <a:cubicBezTo>
                    <a:pt x="502803" y="37670"/>
                    <a:pt x="511064" y="57614"/>
                    <a:pt x="511064" y="78410"/>
                  </a:cubicBezTo>
                  <a:lnTo>
                    <a:pt x="511064" y="78410"/>
                  </a:lnTo>
                  <a:cubicBezTo>
                    <a:pt x="511064" y="121714"/>
                    <a:pt x="475959" y="156820"/>
                    <a:pt x="432654" y="156820"/>
                  </a:cubicBezTo>
                  <a:lnTo>
                    <a:pt x="78410" y="156820"/>
                  </a:lnTo>
                  <a:cubicBezTo>
                    <a:pt x="35105" y="156820"/>
                    <a:pt x="0" y="121714"/>
                    <a:pt x="0" y="78410"/>
                  </a:cubicBezTo>
                  <a:lnTo>
                    <a:pt x="0" y="78410"/>
                  </a:lnTo>
                  <a:cubicBezTo>
                    <a:pt x="0" y="35105"/>
                    <a:pt x="35105" y="0"/>
                    <a:pt x="78410" y="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4"/>
            <p:cNvSpPr txBox="1"/>
            <p:nvPr/>
          </p:nvSpPr>
          <p:spPr>
            <a:xfrm>
              <a:off x="0" y="19050"/>
              <a:ext cx="511064" cy="137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4"/>
          <p:cNvGrpSpPr/>
          <p:nvPr/>
        </p:nvGrpSpPr>
        <p:grpSpPr>
          <a:xfrm>
            <a:off x="693268" y="356223"/>
            <a:ext cx="884709" cy="884709"/>
            <a:chOff x="0" y="0"/>
            <a:chExt cx="1179612" cy="1179612"/>
          </a:xfrm>
        </p:grpSpPr>
        <p:grpSp>
          <p:nvGrpSpPr>
            <p:cNvPr id="160" name="Google Shape;160;p4"/>
            <p:cNvGrpSpPr/>
            <p:nvPr/>
          </p:nvGrpSpPr>
          <p:grpSpPr>
            <a:xfrm>
              <a:off x="0" y="0"/>
              <a:ext cx="1179612" cy="1179612"/>
              <a:chOff x="0" y="0"/>
              <a:chExt cx="812800" cy="812800"/>
            </a:xfrm>
          </p:grpSpPr>
          <p:sp>
            <p:nvSpPr>
              <p:cNvPr id="161" name="Google Shape;161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noFill/>
              <a:ln cap="sq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4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" name="Google Shape;163;p4"/>
            <p:cNvSpPr/>
            <p:nvPr/>
          </p:nvSpPr>
          <p:spPr>
            <a:xfrm rot="-2392374">
              <a:off x="424107" y="419565"/>
              <a:ext cx="331399" cy="400592"/>
            </a:xfrm>
            <a:custGeom>
              <a:rect b="b" l="l" r="r" t="t"/>
              <a:pathLst>
                <a:path extrusionOk="0" h="400592" w="331399">
                  <a:moveTo>
                    <a:pt x="0" y="0"/>
                  </a:moveTo>
                  <a:lnTo>
                    <a:pt x="331399" y="0"/>
                  </a:lnTo>
                  <a:lnTo>
                    <a:pt x="331399" y="400592"/>
                  </a:lnTo>
                  <a:lnTo>
                    <a:pt x="0" y="400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64" name="Google Shape;164;p4"/>
          <p:cNvSpPr txBox="1"/>
          <p:nvPr/>
        </p:nvSpPr>
        <p:spPr>
          <a:xfrm>
            <a:off x="2277749" y="686373"/>
            <a:ext cx="13278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9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SERVICIOS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512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 txBox="1"/>
          <p:nvPr/>
        </p:nvSpPr>
        <p:spPr>
          <a:xfrm>
            <a:off x="2846889" y="4158288"/>
            <a:ext cx="123510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1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Presupuesto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6"/>
          <p:cNvGrpSpPr/>
          <p:nvPr/>
        </p:nvGrpSpPr>
        <p:grpSpPr>
          <a:xfrm>
            <a:off x="0" y="-180826"/>
            <a:ext cx="191989" cy="372815"/>
            <a:chOff x="0" y="-47625"/>
            <a:chExt cx="50565" cy="98190"/>
          </a:xfrm>
        </p:grpSpPr>
        <p:sp>
          <p:nvSpPr>
            <p:cNvPr id="175" name="Google Shape;175;p6"/>
            <p:cNvSpPr/>
            <p:nvPr/>
          </p:nvSpPr>
          <p:spPr>
            <a:xfrm>
              <a:off x="0" y="0"/>
              <a:ext cx="50565" cy="50565"/>
            </a:xfrm>
            <a:custGeom>
              <a:rect b="b" l="l" r="r" t="t"/>
              <a:pathLst>
                <a:path extrusionOk="0" h="50565" w="50565">
                  <a:moveTo>
                    <a:pt x="0" y="0"/>
                  </a:moveTo>
                  <a:lnTo>
                    <a:pt x="50565" y="0"/>
                  </a:lnTo>
                  <a:lnTo>
                    <a:pt x="50565" y="50565"/>
                  </a:lnTo>
                  <a:lnTo>
                    <a:pt x="0" y="50565"/>
                  </a:lnTo>
                  <a:close/>
                </a:path>
              </a:pathLst>
            </a:custGeom>
            <a:solidFill>
              <a:srgbClr val="C1C5E7"/>
            </a:solidFill>
            <a:ln>
              <a:noFill/>
            </a:ln>
          </p:spPr>
        </p:sp>
        <p:sp>
          <p:nvSpPr>
            <p:cNvPr id="176" name="Google Shape;176;p6"/>
            <p:cNvSpPr txBox="1"/>
            <p:nvPr/>
          </p:nvSpPr>
          <p:spPr>
            <a:xfrm>
              <a:off x="0" y="-47625"/>
              <a:ext cx="50565" cy="98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2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7" name="Google Shape;177;p6"/>
          <p:cNvCxnSpPr/>
          <p:nvPr/>
        </p:nvCxnSpPr>
        <p:spPr>
          <a:xfrm rot="10800000">
            <a:off x="6828103" y="-8"/>
            <a:ext cx="0" cy="10287000"/>
          </a:xfrm>
          <a:prstGeom prst="straightConnector1">
            <a:avLst/>
          </a:prstGeom>
          <a:noFill/>
          <a:ln cap="flat" cmpd="sng" w="9525">
            <a:solidFill>
              <a:srgbClr val="2022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6"/>
          <p:cNvSpPr txBox="1"/>
          <p:nvPr/>
        </p:nvSpPr>
        <p:spPr>
          <a:xfrm>
            <a:off x="663841" y="1822450"/>
            <a:ext cx="5540400" cy="1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Creación de Contenido (Video &amp; Foto)+ Brand assesement </a:t>
            </a:r>
            <a:endParaRPr sz="40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7454575" y="1843825"/>
            <a:ext cx="9309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Acompañamiento estratégico para ayudar a una marca a identificar su posición real en el mercado, clarificar su voz y diseñar una hoja de ruta de contenido accionable. A través de un proceso estructurado de reuniones y feedback, definimos dónde está la marca hoy, dónde debería estar, y cómo llegar ahí</a:t>
            </a:r>
            <a:endParaRPr sz="15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7454570" y="872044"/>
            <a:ext cx="681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Incluye: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663841" y="9786985"/>
            <a:ext cx="5865255" cy="20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02221"/>
                </a:solidFill>
                <a:latin typeface="Lekton"/>
                <a:ea typeface="Lekton"/>
                <a:cs typeface="Lekton"/>
                <a:sym typeface="Lekton"/>
              </a:rPr>
              <a:t>BRIGHT STUDIO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693266" y="4800681"/>
            <a:ext cx="42729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9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Creación de contenido audiovisual en formato vertical, optimizado para redes sociales, alineado con la estrategia de la marca y pensado para facilitar su ejecución y publicación.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48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99" u="none" cap="none" strike="noStrike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48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9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Plazo: 6 semanas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48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99" u="none" cap="none" strike="noStrike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48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99" u="none" cap="none" strike="noStrike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11752554" y="9786985"/>
            <a:ext cx="5865255" cy="2049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02221"/>
                </a:solidFill>
                <a:latin typeface="Lekton"/>
                <a:ea typeface="Lekton"/>
                <a:cs typeface="Lekton"/>
                <a:sym typeface="Lekton"/>
              </a:rPr>
              <a:t>2026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7842892" y="8617031"/>
            <a:ext cx="9774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202221"/>
                </a:solidFill>
                <a:latin typeface="Lekton"/>
                <a:ea typeface="Lekton"/>
                <a:cs typeface="Lekton"/>
                <a:sym typeface="Lekton"/>
              </a:rPr>
              <a:t>CON ESTE PACK SE PREVEE CUBRIR EL CONTENIDO PARA UN MÍNIMO DE 3 MESES.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7322650" y="5399888"/>
            <a:ext cx="97749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526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Light"/>
              <a:buChar char="•"/>
            </a:pPr>
            <a:r>
              <a:rPr i="0" lang="en-US" sz="15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Brand Discovery Document: análisis de competidores, oportunidad en el mercado digital, tono de voz, do's &amp; don'ts</a:t>
            </a:r>
            <a:endParaRPr sz="1500">
              <a:latin typeface="Inter Light"/>
              <a:ea typeface="Inter Light"/>
              <a:cs typeface="Inter Light"/>
              <a:sym typeface="Inter Light"/>
            </a:endParaRPr>
          </a:p>
          <a:p>
            <a:pPr indent="-17526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Light"/>
              <a:buChar char="•"/>
            </a:pPr>
            <a:r>
              <a:rPr i="0" lang="en-US" sz="15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Content Guide (DIY): guía de contenido que el propio equipo de la marca puede producir</a:t>
            </a:r>
            <a:endParaRPr sz="1500">
              <a:latin typeface="Inter Light"/>
              <a:ea typeface="Inter Light"/>
              <a:cs typeface="Inter Light"/>
              <a:sym typeface="Inter Light"/>
            </a:endParaRPr>
          </a:p>
          <a:p>
            <a:pPr indent="-17526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Light"/>
              <a:buChar char="•"/>
            </a:pPr>
            <a:r>
              <a:rPr i="0" lang="en-US" sz="15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Filmación y edición de 6 videos (Reels) con contenido previamente definido, </a:t>
            </a:r>
            <a:endParaRPr sz="1500">
              <a:latin typeface="Inter Light"/>
              <a:ea typeface="Inter Light"/>
              <a:cs typeface="Inter Light"/>
              <a:sym typeface="Inter Light"/>
            </a:endParaRPr>
          </a:p>
          <a:p>
            <a:pPr indent="-17526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Light"/>
              <a:buChar char="•"/>
            </a:pPr>
            <a:r>
              <a:rPr i="0" lang="en-US" sz="15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60 fotografías de producto y de situación, pensadas para feed, stories y otros usos digitales.</a:t>
            </a:r>
            <a:endParaRPr sz="1500">
              <a:latin typeface="Inter Light"/>
              <a:ea typeface="Inter Light"/>
              <a:cs typeface="Inter Light"/>
              <a:sym typeface="Inter Light"/>
            </a:endParaRPr>
          </a:p>
          <a:p>
            <a:pPr indent="-17526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Light"/>
              <a:buChar char="•"/>
            </a:pPr>
            <a:r>
              <a:rPr i="0" lang="en-US" sz="15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Dirección de arte, asegurando coherencia visual, estética de marca y calidad en todo el contenido.</a:t>
            </a:r>
            <a:endParaRPr sz="15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7454570" y="4468441"/>
            <a:ext cx="681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Entregables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1971411" y="500866"/>
            <a:ext cx="1940446" cy="595424"/>
            <a:chOff x="0" y="0"/>
            <a:chExt cx="511064" cy="156820"/>
          </a:xfrm>
        </p:grpSpPr>
        <p:sp>
          <p:nvSpPr>
            <p:cNvPr id="188" name="Google Shape;188;p6"/>
            <p:cNvSpPr/>
            <p:nvPr/>
          </p:nvSpPr>
          <p:spPr>
            <a:xfrm>
              <a:off x="0" y="0"/>
              <a:ext cx="511064" cy="156820"/>
            </a:xfrm>
            <a:custGeom>
              <a:rect b="b" l="l" r="r" t="t"/>
              <a:pathLst>
                <a:path extrusionOk="0" h="156820" w="511064">
                  <a:moveTo>
                    <a:pt x="78410" y="0"/>
                  </a:moveTo>
                  <a:lnTo>
                    <a:pt x="432654" y="0"/>
                  </a:lnTo>
                  <a:cubicBezTo>
                    <a:pt x="453450" y="0"/>
                    <a:pt x="473394" y="8261"/>
                    <a:pt x="488098" y="22966"/>
                  </a:cubicBezTo>
                  <a:cubicBezTo>
                    <a:pt x="502803" y="37670"/>
                    <a:pt x="511064" y="57614"/>
                    <a:pt x="511064" y="78410"/>
                  </a:cubicBezTo>
                  <a:lnTo>
                    <a:pt x="511064" y="78410"/>
                  </a:lnTo>
                  <a:cubicBezTo>
                    <a:pt x="511064" y="121714"/>
                    <a:pt x="475959" y="156820"/>
                    <a:pt x="432654" y="156820"/>
                  </a:cubicBezTo>
                  <a:lnTo>
                    <a:pt x="78410" y="156820"/>
                  </a:lnTo>
                  <a:cubicBezTo>
                    <a:pt x="35105" y="156820"/>
                    <a:pt x="0" y="121714"/>
                    <a:pt x="0" y="78410"/>
                  </a:cubicBezTo>
                  <a:lnTo>
                    <a:pt x="0" y="78410"/>
                  </a:lnTo>
                  <a:cubicBezTo>
                    <a:pt x="0" y="35105"/>
                    <a:pt x="35105" y="0"/>
                    <a:pt x="78410" y="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6"/>
            <p:cNvSpPr txBox="1"/>
            <p:nvPr/>
          </p:nvSpPr>
          <p:spPr>
            <a:xfrm>
              <a:off x="0" y="19050"/>
              <a:ext cx="511064" cy="137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6"/>
          <p:cNvGrpSpPr/>
          <p:nvPr/>
        </p:nvGrpSpPr>
        <p:grpSpPr>
          <a:xfrm>
            <a:off x="693268" y="356223"/>
            <a:ext cx="884709" cy="884709"/>
            <a:chOff x="0" y="0"/>
            <a:chExt cx="1179612" cy="1179612"/>
          </a:xfrm>
        </p:grpSpPr>
        <p:grpSp>
          <p:nvGrpSpPr>
            <p:cNvPr id="191" name="Google Shape;191;p6"/>
            <p:cNvGrpSpPr/>
            <p:nvPr/>
          </p:nvGrpSpPr>
          <p:grpSpPr>
            <a:xfrm>
              <a:off x="0" y="0"/>
              <a:ext cx="1179612" cy="1179612"/>
              <a:chOff x="0" y="0"/>
              <a:chExt cx="812800" cy="812800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noFill/>
              <a:ln cap="sq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" name="Google Shape;194;p6"/>
            <p:cNvSpPr/>
            <p:nvPr/>
          </p:nvSpPr>
          <p:spPr>
            <a:xfrm rot="-2392374">
              <a:off x="424107" y="419565"/>
              <a:ext cx="331399" cy="400592"/>
            </a:xfrm>
            <a:custGeom>
              <a:rect b="b" l="l" r="r" t="t"/>
              <a:pathLst>
                <a:path extrusionOk="0" h="400592" w="331399">
                  <a:moveTo>
                    <a:pt x="0" y="0"/>
                  </a:moveTo>
                  <a:lnTo>
                    <a:pt x="331399" y="0"/>
                  </a:lnTo>
                  <a:lnTo>
                    <a:pt x="331399" y="400592"/>
                  </a:lnTo>
                  <a:lnTo>
                    <a:pt x="0" y="400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95" name="Google Shape;195;p6"/>
          <p:cNvSpPr txBox="1"/>
          <p:nvPr/>
        </p:nvSpPr>
        <p:spPr>
          <a:xfrm>
            <a:off x="2192731" y="686373"/>
            <a:ext cx="14979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9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PROPUESTA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g3db11517add_0_5"/>
          <p:cNvGrpSpPr/>
          <p:nvPr/>
        </p:nvGrpSpPr>
        <p:grpSpPr>
          <a:xfrm>
            <a:off x="0" y="-180827"/>
            <a:ext cx="192503" cy="372818"/>
            <a:chOff x="0" y="-47625"/>
            <a:chExt cx="50700" cy="98190"/>
          </a:xfrm>
        </p:grpSpPr>
        <p:sp>
          <p:nvSpPr>
            <p:cNvPr id="201" name="Google Shape;201;g3db11517add_0_5"/>
            <p:cNvSpPr/>
            <p:nvPr/>
          </p:nvSpPr>
          <p:spPr>
            <a:xfrm>
              <a:off x="0" y="0"/>
              <a:ext cx="50565" cy="50565"/>
            </a:xfrm>
            <a:custGeom>
              <a:rect b="b" l="l" r="r" t="t"/>
              <a:pathLst>
                <a:path extrusionOk="0" h="50565" w="50565">
                  <a:moveTo>
                    <a:pt x="0" y="0"/>
                  </a:moveTo>
                  <a:lnTo>
                    <a:pt x="50565" y="0"/>
                  </a:lnTo>
                  <a:lnTo>
                    <a:pt x="50565" y="50565"/>
                  </a:lnTo>
                  <a:lnTo>
                    <a:pt x="0" y="50565"/>
                  </a:lnTo>
                  <a:close/>
                </a:path>
              </a:pathLst>
            </a:custGeom>
            <a:solidFill>
              <a:srgbClr val="C1C5E7"/>
            </a:solidFill>
            <a:ln>
              <a:noFill/>
            </a:ln>
          </p:spPr>
        </p:sp>
        <p:sp>
          <p:nvSpPr>
            <p:cNvPr id="202" name="Google Shape;202;g3db11517add_0_5"/>
            <p:cNvSpPr txBox="1"/>
            <p:nvPr/>
          </p:nvSpPr>
          <p:spPr>
            <a:xfrm>
              <a:off x="0" y="-47625"/>
              <a:ext cx="50700" cy="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2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03" name="Google Shape;203;g3db11517add_0_5"/>
          <p:cNvCxnSpPr/>
          <p:nvPr/>
        </p:nvCxnSpPr>
        <p:spPr>
          <a:xfrm rot="10800000">
            <a:off x="6828103" y="-8"/>
            <a:ext cx="0" cy="10287000"/>
          </a:xfrm>
          <a:prstGeom prst="straightConnector1">
            <a:avLst/>
          </a:prstGeom>
          <a:noFill/>
          <a:ln cap="flat" cmpd="sng" w="9525">
            <a:solidFill>
              <a:srgbClr val="20222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g3db11517add_0_5"/>
          <p:cNvSpPr txBox="1"/>
          <p:nvPr/>
        </p:nvSpPr>
        <p:spPr>
          <a:xfrm>
            <a:off x="663841" y="9786985"/>
            <a:ext cx="58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02221"/>
                </a:solidFill>
                <a:latin typeface="Lekton"/>
                <a:ea typeface="Lekton"/>
                <a:cs typeface="Lekton"/>
                <a:sym typeface="Lekton"/>
              </a:rPr>
              <a:t>BRIGHT STUDIO</a:t>
            </a:r>
            <a:endParaRPr/>
          </a:p>
        </p:txBody>
      </p:sp>
      <p:sp>
        <p:nvSpPr>
          <p:cNvPr id="205" name="Google Shape;205;g3db11517add_0_5"/>
          <p:cNvSpPr txBox="1"/>
          <p:nvPr/>
        </p:nvSpPr>
        <p:spPr>
          <a:xfrm>
            <a:off x="11752554" y="9786985"/>
            <a:ext cx="586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02221"/>
                </a:solidFill>
                <a:latin typeface="Lekton"/>
                <a:ea typeface="Lekton"/>
                <a:cs typeface="Lekton"/>
                <a:sym typeface="Lekton"/>
              </a:rPr>
              <a:t>2026</a:t>
            </a:r>
            <a:endParaRPr/>
          </a:p>
        </p:txBody>
      </p:sp>
      <p:grpSp>
        <p:nvGrpSpPr>
          <p:cNvPr id="206" name="Google Shape;206;g3db11517add_0_5"/>
          <p:cNvGrpSpPr/>
          <p:nvPr/>
        </p:nvGrpSpPr>
        <p:grpSpPr>
          <a:xfrm>
            <a:off x="1971411" y="500866"/>
            <a:ext cx="1940975" cy="595430"/>
            <a:chOff x="0" y="0"/>
            <a:chExt cx="511200" cy="156820"/>
          </a:xfrm>
        </p:grpSpPr>
        <p:sp>
          <p:nvSpPr>
            <p:cNvPr id="207" name="Google Shape;207;g3db11517add_0_5"/>
            <p:cNvSpPr/>
            <p:nvPr/>
          </p:nvSpPr>
          <p:spPr>
            <a:xfrm>
              <a:off x="0" y="0"/>
              <a:ext cx="511064" cy="156820"/>
            </a:xfrm>
            <a:custGeom>
              <a:rect b="b" l="l" r="r" t="t"/>
              <a:pathLst>
                <a:path extrusionOk="0" h="156820" w="511064">
                  <a:moveTo>
                    <a:pt x="78410" y="0"/>
                  </a:moveTo>
                  <a:lnTo>
                    <a:pt x="432654" y="0"/>
                  </a:lnTo>
                  <a:cubicBezTo>
                    <a:pt x="453450" y="0"/>
                    <a:pt x="473394" y="8261"/>
                    <a:pt x="488098" y="22966"/>
                  </a:cubicBezTo>
                  <a:cubicBezTo>
                    <a:pt x="502803" y="37670"/>
                    <a:pt x="511064" y="57614"/>
                    <a:pt x="511064" y="78410"/>
                  </a:cubicBezTo>
                  <a:lnTo>
                    <a:pt x="511064" y="78410"/>
                  </a:lnTo>
                  <a:cubicBezTo>
                    <a:pt x="511064" y="121714"/>
                    <a:pt x="475959" y="156820"/>
                    <a:pt x="432654" y="156820"/>
                  </a:cubicBezTo>
                  <a:lnTo>
                    <a:pt x="78410" y="156820"/>
                  </a:lnTo>
                  <a:cubicBezTo>
                    <a:pt x="35105" y="156820"/>
                    <a:pt x="0" y="121714"/>
                    <a:pt x="0" y="78410"/>
                  </a:cubicBezTo>
                  <a:lnTo>
                    <a:pt x="0" y="78410"/>
                  </a:lnTo>
                  <a:cubicBezTo>
                    <a:pt x="0" y="35105"/>
                    <a:pt x="35105" y="0"/>
                    <a:pt x="78410" y="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g3db11517add_0_5"/>
            <p:cNvSpPr txBox="1"/>
            <p:nvPr/>
          </p:nvSpPr>
          <p:spPr>
            <a:xfrm>
              <a:off x="0" y="19050"/>
              <a:ext cx="511200" cy="13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g3db11517add_0_5"/>
          <p:cNvGrpSpPr/>
          <p:nvPr/>
        </p:nvGrpSpPr>
        <p:grpSpPr>
          <a:xfrm>
            <a:off x="693268" y="356223"/>
            <a:ext cx="884712" cy="884712"/>
            <a:chOff x="0" y="0"/>
            <a:chExt cx="1179617" cy="1179617"/>
          </a:xfrm>
        </p:grpSpPr>
        <p:grpSp>
          <p:nvGrpSpPr>
            <p:cNvPr id="210" name="Google Shape;210;g3db11517add_0_5"/>
            <p:cNvGrpSpPr/>
            <p:nvPr/>
          </p:nvGrpSpPr>
          <p:grpSpPr>
            <a:xfrm>
              <a:off x="0" y="0"/>
              <a:ext cx="1179617" cy="1179617"/>
              <a:chOff x="0" y="0"/>
              <a:chExt cx="812800" cy="812800"/>
            </a:xfrm>
          </p:grpSpPr>
          <p:sp>
            <p:nvSpPr>
              <p:cNvPr id="211" name="Google Shape;211;g3db11517add_0_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noFill/>
              <a:ln cap="sq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g3db11517add_0_5"/>
              <p:cNvSpPr txBox="1"/>
              <p:nvPr/>
            </p:nvSpPr>
            <p:spPr>
              <a:xfrm>
                <a:off x="76200" y="95250"/>
                <a:ext cx="660300" cy="641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3" name="Google Shape;213;g3db11517add_0_5"/>
            <p:cNvSpPr/>
            <p:nvPr/>
          </p:nvSpPr>
          <p:spPr>
            <a:xfrm rot="-2389435">
              <a:off x="424006" y="419886"/>
              <a:ext cx="331176" cy="400323"/>
            </a:xfrm>
            <a:custGeom>
              <a:rect b="b" l="l" r="r" t="t"/>
              <a:pathLst>
                <a:path extrusionOk="0" h="400592" w="331399">
                  <a:moveTo>
                    <a:pt x="0" y="0"/>
                  </a:moveTo>
                  <a:lnTo>
                    <a:pt x="331399" y="0"/>
                  </a:lnTo>
                  <a:lnTo>
                    <a:pt x="331399" y="400592"/>
                  </a:lnTo>
                  <a:lnTo>
                    <a:pt x="0" y="400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14" name="Google Shape;214;g3db11517add_0_5"/>
          <p:cNvSpPr txBox="1"/>
          <p:nvPr/>
        </p:nvSpPr>
        <p:spPr>
          <a:xfrm>
            <a:off x="2192731" y="686373"/>
            <a:ext cx="14979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PROPUESTA</a:t>
            </a:r>
            <a:endParaRPr/>
          </a:p>
        </p:txBody>
      </p:sp>
      <p:sp>
        <p:nvSpPr>
          <p:cNvPr id="215" name="Google Shape;215;g3db11517add_0_5"/>
          <p:cNvSpPr/>
          <p:nvPr/>
        </p:nvSpPr>
        <p:spPr>
          <a:xfrm>
            <a:off x="16410175" y="752950"/>
            <a:ext cx="1941000" cy="884700"/>
          </a:xfrm>
          <a:prstGeom prst="roundRect">
            <a:avLst>
              <a:gd fmla="val 16667" name="adj"/>
            </a:avLst>
          </a:prstGeom>
          <a:solidFill>
            <a:srgbClr val="C1C5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Inter Light"/>
                <a:ea typeface="Inter Light"/>
                <a:cs typeface="Inter Light"/>
                <a:sym typeface="Inter Light"/>
              </a:rPr>
              <a:t>2.500€</a:t>
            </a:r>
            <a:endParaRPr sz="27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16" name="Google Shape;216;g3db11517add_0_5"/>
          <p:cNvSpPr txBox="1"/>
          <p:nvPr/>
        </p:nvSpPr>
        <p:spPr>
          <a:xfrm>
            <a:off x="7454575" y="1843825"/>
            <a:ext cx="93090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Acompañamiento estratégico para ayudar a una marca a identificar su posición real en el mercado, clarificar su voz y diseñar una hoja de ruta de contenido accionable. A través de un proceso estructurado de reuniones y feedback, definimos dónde está la marca hoy, dónde debería estar, y cómo llegar ahí</a:t>
            </a:r>
            <a:endParaRPr sz="15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17" name="Google Shape;217;g3db11517add_0_5"/>
          <p:cNvSpPr txBox="1"/>
          <p:nvPr/>
        </p:nvSpPr>
        <p:spPr>
          <a:xfrm>
            <a:off x="7454570" y="872044"/>
            <a:ext cx="681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Incluye: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18" name="Google Shape;218;g3db11517add_0_5"/>
          <p:cNvSpPr txBox="1"/>
          <p:nvPr/>
        </p:nvSpPr>
        <p:spPr>
          <a:xfrm>
            <a:off x="7842892" y="8617031"/>
            <a:ext cx="9774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202221"/>
                </a:solidFill>
                <a:latin typeface="Lekton"/>
                <a:ea typeface="Lekton"/>
                <a:cs typeface="Lekton"/>
                <a:sym typeface="Lekton"/>
              </a:rPr>
              <a:t>CON ESTE PACK SE PREVEE CUBRIR EL CONTENIDO PARA UN MÍNIMO DE 3 MESES.</a:t>
            </a:r>
            <a:endParaRPr/>
          </a:p>
        </p:txBody>
      </p:sp>
      <p:sp>
        <p:nvSpPr>
          <p:cNvPr id="219" name="Google Shape;219;g3db11517add_0_5"/>
          <p:cNvSpPr txBox="1"/>
          <p:nvPr/>
        </p:nvSpPr>
        <p:spPr>
          <a:xfrm>
            <a:off x="7322650" y="5399888"/>
            <a:ext cx="97749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526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Light"/>
              <a:buChar char="•"/>
            </a:pPr>
            <a:r>
              <a:rPr i="0" lang="en-US" sz="15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Brand Discovery Document: análisis de competidores, oportunidad en el mercado digital, tono de voz, do's &amp; don'ts</a:t>
            </a:r>
            <a:endParaRPr sz="1500">
              <a:latin typeface="Inter Light"/>
              <a:ea typeface="Inter Light"/>
              <a:cs typeface="Inter Light"/>
              <a:sym typeface="Inter Light"/>
            </a:endParaRPr>
          </a:p>
          <a:p>
            <a:pPr indent="-17526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Light"/>
              <a:buChar char="•"/>
            </a:pPr>
            <a:r>
              <a:rPr i="0" lang="en-US" sz="15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Content Guide (DIY): guía de contenido que el propio equipo de la marca puede producir</a:t>
            </a:r>
            <a:endParaRPr sz="1500">
              <a:latin typeface="Inter Light"/>
              <a:ea typeface="Inter Light"/>
              <a:cs typeface="Inter Light"/>
              <a:sym typeface="Inter Light"/>
            </a:endParaRPr>
          </a:p>
          <a:p>
            <a:pPr indent="-17526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Light"/>
              <a:buChar char="•"/>
            </a:pPr>
            <a:r>
              <a:rPr i="0" lang="en-US" sz="15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Filmación y edición de 6 videos (Reels) con contenido previamente definido, </a:t>
            </a:r>
            <a:endParaRPr sz="1500">
              <a:latin typeface="Inter Light"/>
              <a:ea typeface="Inter Light"/>
              <a:cs typeface="Inter Light"/>
              <a:sym typeface="Inter Light"/>
            </a:endParaRPr>
          </a:p>
          <a:p>
            <a:pPr indent="-17526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Light"/>
              <a:buChar char="•"/>
            </a:pPr>
            <a:r>
              <a:rPr i="0" lang="en-US" sz="15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60 fotografías de producto y de situación, pensadas para feed, stories y otros usos digitales.</a:t>
            </a:r>
            <a:endParaRPr sz="1500">
              <a:latin typeface="Inter Light"/>
              <a:ea typeface="Inter Light"/>
              <a:cs typeface="Inter Light"/>
              <a:sym typeface="Inter Light"/>
            </a:endParaRPr>
          </a:p>
          <a:p>
            <a:pPr indent="-175260" lvl="1" marL="38862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 Light"/>
              <a:buChar char="•"/>
            </a:pPr>
            <a:r>
              <a:rPr i="0" lang="en-US" sz="15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Dirección de arte, asegurando coherencia visual, estética de marca y calidad en todo el contenido.</a:t>
            </a:r>
            <a:endParaRPr sz="15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20" name="Google Shape;220;g3db11517add_0_5"/>
          <p:cNvSpPr txBox="1"/>
          <p:nvPr/>
        </p:nvSpPr>
        <p:spPr>
          <a:xfrm>
            <a:off x="7454570" y="4468441"/>
            <a:ext cx="681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Entregables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21" name="Google Shape;221;g3db11517add_0_5"/>
          <p:cNvSpPr txBox="1"/>
          <p:nvPr/>
        </p:nvSpPr>
        <p:spPr>
          <a:xfrm>
            <a:off x="663841" y="1822450"/>
            <a:ext cx="5540400" cy="18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000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Creación de Contenido (Video &amp; Foto)+ Brand assesement </a:t>
            </a:r>
            <a:endParaRPr sz="4000"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22" name="Google Shape;222;g3db11517add_0_5"/>
          <p:cNvSpPr txBox="1"/>
          <p:nvPr/>
        </p:nvSpPr>
        <p:spPr>
          <a:xfrm>
            <a:off x="693266" y="4800681"/>
            <a:ext cx="42729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8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9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Creación de contenido audiovisual en formato vertical, optimizado para redes sociales, alineado con la estrategia de la marca y pensado para facilitar su ejecución y publicación.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48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99" u="none" cap="none" strike="noStrike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48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99" u="none" cap="none" strike="noStrike">
                <a:solidFill>
                  <a:srgbClr val="000000"/>
                </a:solidFill>
                <a:latin typeface="Inter Light"/>
                <a:ea typeface="Inter Light"/>
                <a:cs typeface="Inter Light"/>
                <a:sym typeface="Inter Light"/>
              </a:rPr>
              <a:t>Plazo: 6 semanas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48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99" u="none" cap="none" strike="noStrike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indent="0" lvl="0" marL="0" marR="0" rtl="0" algn="l">
              <a:lnSpc>
                <a:spcPct val="148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99" u="none" cap="none" strike="noStrike">
              <a:solidFill>
                <a:srgbClr val="000000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0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7"/>
          <p:cNvGrpSpPr/>
          <p:nvPr/>
        </p:nvGrpSpPr>
        <p:grpSpPr>
          <a:xfrm>
            <a:off x="2120918" y="513149"/>
            <a:ext cx="2503995" cy="679906"/>
            <a:chOff x="0" y="0"/>
            <a:chExt cx="577544" cy="156820"/>
          </a:xfrm>
        </p:grpSpPr>
        <p:sp>
          <p:nvSpPr>
            <p:cNvPr id="228" name="Google Shape;228;p7"/>
            <p:cNvSpPr/>
            <p:nvPr/>
          </p:nvSpPr>
          <p:spPr>
            <a:xfrm>
              <a:off x="0" y="0"/>
              <a:ext cx="577544" cy="156820"/>
            </a:xfrm>
            <a:custGeom>
              <a:rect b="b" l="l" r="r" t="t"/>
              <a:pathLst>
                <a:path extrusionOk="0" h="156820" w="577544">
                  <a:moveTo>
                    <a:pt x="78410" y="0"/>
                  </a:moveTo>
                  <a:lnTo>
                    <a:pt x="499134" y="0"/>
                  </a:lnTo>
                  <a:cubicBezTo>
                    <a:pt x="519929" y="0"/>
                    <a:pt x="539873" y="8261"/>
                    <a:pt x="554578" y="22966"/>
                  </a:cubicBezTo>
                  <a:cubicBezTo>
                    <a:pt x="569282" y="37670"/>
                    <a:pt x="577544" y="57614"/>
                    <a:pt x="577544" y="78410"/>
                  </a:cubicBezTo>
                  <a:lnTo>
                    <a:pt x="577544" y="78410"/>
                  </a:lnTo>
                  <a:cubicBezTo>
                    <a:pt x="577544" y="121714"/>
                    <a:pt x="542438" y="156820"/>
                    <a:pt x="499134" y="156820"/>
                  </a:cubicBezTo>
                  <a:lnTo>
                    <a:pt x="78410" y="156820"/>
                  </a:lnTo>
                  <a:cubicBezTo>
                    <a:pt x="35105" y="156820"/>
                    <a:pt x="0" y="121714"/>
                    <a:pt x="0" y="78410"/>
                  </a:cubicBezTo>
                  <a:lnTo>
                    <a:pt x="0" y="78410"/>
                  </a:lnTo>
                  <a:cubicBezTo>
                    <a:pt x="0" y="35105"/>
                    <a:pt x="35105" y="0"/>
                    <a:pt x="78410" y="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 txBox="1"/>
            <p:nvPr/>
          </p:nvSpPr>
          <p:spPr>
            <a:xfrm>
              <a:off x="0" y="19050"/>
              <a:ext cx="577544" cy="137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7"/>
          <p:cNvGrpSpPr/>
          <p:nvPr/>
        </p:nvGrpSpPr>
        <p:grpSpPr>
          <a:xfrm>
            <a:off x="738107" y="356662"/>
            <a:ext cx="957159" cy="957159"/>
            <a:chOff x="0" y="0"/>
            <a:chExt cx="1276212" cy="1276212"/>
          </a:xfrm>
        </p:grpSpPr>
        <p:grpSp>
          <p:nvGrpSpPr>
            <p:cNvPr id="231" name="Google Shape;231;p7"/>
            <p:cNvGrpSpPr/>
            <p:nvPr/>
          </p:nvGrpSpPr>
          <p:grpSpPr>
            <a:xfrm>
              <a:off x="0" y="0"/>
              <a:ext cx="1276212" cy="1276212"/>
              <a:chOff x="0" y="0"/>
              <a:chExt cx="812800" cy="812800"/>
            </a:xfrm>
          </p:grpSpPr>
          <p:sp>
            <p:nvSpPr>
              <p:cNvPr id="232" name="Google Shape;232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noFill/>
              <a:ln cap="sq" cmpd="sng" w="9525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7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999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4" name="Google Shape;234;p7"/>
            <p:cNvSpPr/>
            <p:nvPr/>
          </p:nvSpPr>
          <p:spPr>
            <a:xfrm rot="-2392374">
              <a:off x="458837" y="453923"/>
              <a:ext cx="358538" cy="433397"/>
            </a:xfrm>
            <a:custGeom>
              <a:rect b="b" l="l" r="r" t="t"/>
              <a:pathLst>
                <a:path extrusionOk="0" h="433397" w="358538">
                  <a:moveTo>
                    <a:pt x="0" y="0"/>
                  </a:moveTo>
                  <a:lnTo>
                    <a:pt x="358538" y="0"/>
                  </a:lnTo>
                  <a:lnTo>
                    <a:pt x="358538" y="433397"/>
                  </a:lnTo>
                  <a:lnTo>
                    <a:pt x="0" y="4333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35" name="Google Shape;235;p7"/>
          <p:cNvSpPr txBox="1"/>
          <p:nvPr/>
        </p:nvSpPr>
        <p:spPr>
          <a:xfrm>
            <a:off x="2501862" y="728292"/>
            <a:ext cx="1742108" cy="287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6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738096" y="7938575"/>
            <a:ext cx="9112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0" u="none" cap="none" strike="noStrike">
                <a:solidFill>
                  <a:srgbClr val="18181A"/>
                </a:solidFill>
                <a:latin typeface="Inter Light"/>
                <a:ea typeface="Inter Light"/>
                <a:cs typeface="Inter Light"/>
                <a:sym typeface="Inter Light"/>
              </a:rPr>
              <a:t>Timeline 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237" name="Google Shape;237;p7"/>
          <p:cNvCxnSpPr/>
          <p:nvPr/>
        </p:nvCxnSpPr>
        <p:spPr>
          <a:xfrm>
            <a:off x="2230518" y="3530872"/>
            <a:ext cx="4856193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8" name="Google Shape;238;p7"/>
          <p:cNvCxnSpPr/>
          <p:nvPr/>
        </p:nvCxnSpPr>
        <p:spPr>
          <a:xfrm>
            <a:off x="8810396" y="3530872"/>
            <a:ext cx="4856193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grpSp>
        <p:nvGrpSpPr>
          <p:cNvPr id="239" name="Google Shape;239;p7"/>
          <p:cNvGrpSpPr/>
          <p:nvPr/>
        </p:nvGrpSpPr>
        <p:grpSpPr>
          <a:xfrm>
            <a:off x="738107" y="2923546"/>
            <a:ext cx="1327060" cy="1327060"/>
            <a:chOff x="0" y="0"/>
            <a:chExt cx="812800" cy="812800"/>
          </a:xfrm>
        </p:grpSpPr>
        <p:sp>
          <p:nvSpPr>
            <p:cNvPr id="240" name="Google Shape;240;p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5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7"/>
          <p:cNvSpPr txBox="1"/>
          <p:nvPr/>
        </p:nvSpPr>
        <p:spPr>
          <a:xfrm>
            <a:off x="1292806" y="3409850"/>
            <a:ext cx="217661" cy="402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5" u="none" cap="none" strike="noStrike">
                <a:solidFill>
                  <a:srgbClr val="F8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243" name="Google Shape;243;p7"/>
          <p:cNvSpPr txBox="1"/>
          <p:nvPr/>
        </p:nvSpPr>
        <p:spPr>
          <a:xfrm>
            <a:off x="738107" y="4834748"/>
            <a:ext cx="333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18181A"/>
                </a:solidFill>
                <a:latin typeface="Inter Light"/>
                <a:ea typeface="Inter Light"/>
                <a:cs typeface="Inter Light"/>
                <a:sym typeface="Inter Light"/>
              </a:rPr>
              <a:t>Brand discovery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244" name="Google Shape;244;p7"/>
          <p:cNvGrpSpPr/>
          <p:nvPr/>
        </p:nvGrpSpPr>
        <p:grpSpPr>
          <a:xfrm>
            <a:off x="7330727" y="2923546"/>
            <a:ext cx="1327060" cy="1327060"/>
            <a:chOff x="0" y="0"/>
            <a:chExt cx="812800" cy="812800"/>
          </a:xfrm>
        </p:grpSpPr>
        <p:sp>
          <p:nvSpPr>
            <p:cNvPr id="245" name="Google Shape;245;p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5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7" name="Google Shape;247;p7"/>
          <p:cNvSpPr txBox="1"/>
          <p:nvPr/>
        </p:nvSpPr>
        <p:spPr>
          <a:xfrm>
            <a:off x="7885426" y="3409850"/>
            <a:ext cx="217661" cy="402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5" u="none" cap="none" strike="noStrike">
                <a:solidFill>
                  <a:srgbClr val="F8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7330727" y="4834748"/>
            <a:ext cx="333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18181A"/>
                </a:solidFill>
                <a:latin typeface="Inter Light"/>
                <a:ea typeface="Inter Light"/>
                <a:cs typeface="Inter Light"/>
                <a:sym typeface="Inter Light"/>
              </a:rPr>
              <a:t>Producción contenido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249" name="Google Shape;249;p7"/>
          <p:cNvGrpSpPr/>
          <p:nvPr/>
        </p:nvGrpSpPr>
        <p:grpSpPr>
          <a:xfrm>
            <a:off x="13923347" y="2923546"/>
            <a:ext cx="1327060" cy="1327060"/>
            <a:chOff x="0" y="0"/>
            <a:chExt cx="812800" cy="812800"/>
          </a:xfrm>
        </p:grpSpPr>
        <p:sp>
          <p:nvSpPr>
            <p:cNvPr id="250" name="Google Shape;250;p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51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7"/>
          <p:cNvSpPr txBox="1"/>
          <p:nvPr/>
        </p:nvSpPr>
        <p:spPr>
          <a:xfrm>
            <a:off x="14478046" y="3409850"/>
            <a:ext cx="217661" cy="402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5" u="none" cap="none" strike="noStrike">
                <a:solidFill>
                  <a:srgbClr val="F8F8F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13923347" y="4834748"/>
            <a:ext cx="333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18181A"/>
                </a:solidFill>
                <a:latin typeface="Inter Light"/>
                <a:ea typeface="Inter Light"/>
                <a:cs typeface="Inter Light"/>
                <a:sym typeface="Inter Light"/>
              </a:rPr>
              <a:t>Entrega contenidos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512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"/>
          <p:cNvSpPr txBox="1"/>
          <p:nvPr/>
        </p:nvSpPr>
        <p:spPr>
          <a:xfrm>
            <a:off x="2384853" y="3836950"/>
            <a:ext cx="142275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801" u="none" cap="none" strike="noStrike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Let’s be friends ;)</a:t>
            </a:r>
            <a:endParaRPr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259" name="Google Shape;259;p8"/>
          <p:cNvGrpSpPr/>
          <p:nvPr/>
        </p:nvGrpSpPr>
        <p:grpSpPr>
          <a:xfrm>
            <a:off x="7165988" y="5807361"/>
            <a:ext cx="3666198" cy="988977"/>
            <a:chOff x="0" y="-66675"/>
            <a:chExt cx="1042837" cy="281311"/>
          </a:xfrm>
        </p:grpSpPr>
        <p:sp>
          <p:nvSpPr>
            <p:cNvPr id="260" name="Google Shape;260;p8"/>
            <p:cNvSpPr/>
            <p:nvPr/>
          </p:nvSpPr>
          <p:spPr>
            <a:xfrm>
              <a:off x="0" y="0"/>
              <a:ext cx="1042837" cy="214636"/>
            </a:xfrm>
            <a:custGeom>
              <a:rect b="b" l="l" r="r" t="t"/>
              <a:pathLst>
                <a:path extrusionOk="0" h="214636" w="1042837">
                  <a:moveTo>
                    <a:pt x="99249" y="0"/>
                  </a:moveTo>
                  <a:lnTo>
                    <a:pt x="943588" y="0"/>
                  </a:lnTo>
                  <a:cubicBezTo>
                    <a:pt x="969910" y="0"/>
                    <a:pt x="995155" y="10457"/>
                    <a:pt x="1013768" y="29069"/>
                  </a:cubicBezTo>
                  <a:cubicBezTo>
                    <a:pt x="1032381" y="47682"/>
                    <a:pt x="1042837" y="72927"/>
                    <a:pt x="1042837" y="99249"/>
                  </a:cubicBezTo>
                  <a:lnTo>
                    <a:pt x="1042837" y="115387"/>
                  </a:lnTo>
                  <a:cubicBezTo>
                    <a:pt x="1042837" y="170201"/>
                    <a:pt x="998402" y="214636"/>
                    <a:pt x="943588" y="214636"/>
                  </a:cubicBezTo>
                  <a:lnTo>
                    <a:pt x="99249" y="214636"/>
                  </a:lnTo>
                  <a:cubicBezTo>
                    <a:pt x="72927" y="214636"/>
                    <a:pt x="47682" y="204180"/>
                    <a:pt x="29069" y="185567"/>
                  </a:cubicBezTo>
                  <a:cubicBezTo>
                    <a:pt x="10457" y="166954"/>
                    <a:pt x="0" y="141709"/>
                    <a:pt x="0" y="115387"/>
                  </a:cubicBezTo>
                  <a:lnTo>
                    <a:pt x="0" y="99249"/>
                  </a:lnTo>
                  <a:cubicBezTo>
                    <a:pt x="0" y="72927"/>
                    <a:pt x="10457" y="47682"/>
                    <a:pt x="29069" y="29069"/>
                  </a:cubicBezTo>
                  <a:cubicBezTo>
                    <a:pt x="47682" y="10457"/>
                    <a:pt x="72927" y="0"/>
                    <a:pt x="99249" y="0"/>
                  </a:cubicBezTo>
                  <a:close/>
                </a:path>
              </a:pathLst>
            </a:custGeom>
            <a:solidFill>
              <a:srgbClr val="C1C5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8"/>
            <p:cNvSpPr txBox="1"/>
            <p:nvPr/>
          </p:nvSpPr>
          <p:spPr>
            <a:xfrm>
              <a:off x="0" y="-66675"/>
              <a:ext cx="1042837" cy="2813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6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8"/>
          <p:cNvSpPr txBox="1"/>
          <p:nvPr/>
        </p:nvSpPr>
        <p:spPr>
          <a:xfrm>
            <a:off x="6583191" y="6202201"/>
            <a:ext cx="483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99" u="sng" cap="none" strike="noStrike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BRIGHTSTUDIO.ES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